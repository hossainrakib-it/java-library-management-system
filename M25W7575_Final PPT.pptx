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ib Hossain" userId="1778cbfd0d7a79d7" providerId="LiveId" clId="{BE821B22-F032-4674-BC45-DDAABCC33B04}"/>
    <pc:docChg chg="custSel modSld">
      <pc:chgData name="Rakib Hossain" userId="1778cbfd0d7a79d7" providerId="LiveId" clId="{BE821B22-F032-4674-BC45-DDAABCC33B04}" dt="2026-07-18T04:06:47.829" v="22" actId="1038"/>
      <pc:docMkLst>
        <pc:docMk/>
      </pc:docMkLst>
      <pc:sldChg chg="addSp delSp modSp mod">
        <pc:chgData name="Rakib Hossain" userId="1778cbfd0d7a79d7" providerId="LiveId" clId="{BE821B22-F032-4674-BC45-DDAABCC33B04}" dt="2026-07-18T03:58:07.802" v="20" actId="478"/>
        <pc:sldMkLst>
          <pc:docMk/>
          <pc:sldMk cId="0" sldId="256"/>
        </pc:sldMkLst>
        <pc:spChg chg="mod">
          <ac:chgData name="Rakib Hossain" userId="1778cbfd0d7a79d7" providerId="LiveId" clId="{BE821B22-F032-4674-BC45-DDAABCC33B04}" dt="2026-07-18T03:55:25.577" v="3" actId="20577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Rakib Hossain" userId="1778cbfd0d7a79d7" providerId="LiveId" clId="{BE821B22-F032-4674-BC45-DDAABCC33B04}" dt="2026-07-18T03:55:52.634" v="5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akib Hossain" userId="1778cbfd0d7a79d7" providerId="LiveId" clId="{BE821B22-F032-4674-BC45-DDAABCC33B04}" dt="2026-07-18T03:56:10.131" v="6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akib Hossain" userId="1778cbfd0d7a79d7" providerId="LiveId" clId="{BE821B22-F032-4674-BC45-DDAABCC33B04}" dt="2026-07-18T03:56:47.871" v="17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akib Hossain" userId="1778cbfd0d7a79d7" providerId="LiveId" clId="{BE821B22-F032-4674-BC45-DDAABCC33B04}" dt="2026-07-18T03:56:40.096" v="14" actId="403"/>
          <ac:spMkLst>
            <pc:docMk/>
            <pc:sldMk cId="0" sldId="256"/>
            <ac:spMk id="14" creationId="{00000000-0000-0000-0000-000000000000}"/>
          </ac:spMkLst>
        </pc:spChg>
        <pc:spChg chg="add del mod">
          <ac:chgData name="Rakib Hossain" userId="1778cbfd0d7a79d7" providerId="LiveId" clId="{BE821B22-F032-4674-BC45-DDAABCC33B04}" dt="2026-07-18T03:58:07.802" v="20" actId="478"/>
          <ac:spMkLst>
            <pc:docMk/>
            <pc:sldMk cId="0" sldId="256"/>
            <ac:spMk id="17" creationId="{82D15801-5A00-B314-DD56-80DD2418C0B8}"/>
          </ac:spMkLst>
        </pc:spChg>
      </pc:sldChg>
      <pc:sldChg chg="modSp mod">
        <pc:chgData name="Rakib Hossain" userId="1778cbfd0d7a79d7" providerId="LiveId" clId="{BE821B22-F032-4674-BC45-DDAABCC33B04}" dt="2026-07-18T04:06:47.829" v="22" actId="1038"/>
        <pc:sldMkLst>
          <pc:docMk/>
          <pc:sldMk cId="0" sldId="263"/>
        </pc:sldMkLst>
        <pc:spChg chg="mod">
          <ac:chgData name="Rakib Hossain" userId="1778cbfd0d7a79d7" providerId="LiveId" clId="{BE821B22-F032-4674-BC45-DDAABCC33B04}" dt="2026-07-18T04:06:47.829" v="22" actId="1038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Copies</c:v>
                </c:pt>
              </c:strCache>
            </c:strRef>
          </c:tx>
          <c:spPr>
            <a:solidFill>
              <a:srgbClr val="2E5B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HP Part 1</c:v>
                </c:pt>
                <c:pt idx="1">
                  <c:v>HP Part 2</c:v>
                </c:pt>
                <c:pt idx="2">
                  <c:v>HP Part 3</c:v>
                </c:pt>
                <c:pt idx="3">
                  <c:v>Hobbit</c:v>
                </c:pt>
                <c:pt idx="4">
                  <c:v>Alchemist</c:v>
                </c:pt>
                <c:pt idx="5">
                  <c:v>Clean Code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60-4DE8-83EA-65B668ED72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96A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DCEA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6A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52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02920" y="3749040"/>
            <a:ext cx="2926080" cy="292608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1097280"/>
            <a:ext cx="2743200" cy="27432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7132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77240" y="117043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Console-Based Application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612648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186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Hossain Rakib  |  Student ID: M25W7575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325880"/>
            <a:ext cx="1965960" cy="2468880"/>
          </a:xfrm>
          <a:prstGeom prst="roundRect">
            <a:avLst>
              <a:gd name="adj" fmla="val 3256"/>
            </a:avLst>
          </a:prstGeom>
          <a:solidFill>
            <a:srgbClr val="F1F8FB"/>
          </a:solidFill>
          <a:ln w="9525">
            <a:solidFill>
              <a:srgbClr val="DCEA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2104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49640" y="23317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6126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books, users and reservations through a reliable file-based system.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1527048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1704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00200" y="1143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16128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purpose and scope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2185416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8288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8196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addressed by the system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2843784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487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2459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47802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inventory and copies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502152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145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3118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&amp; Design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31363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Admin/User functions and OOP structure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8039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00200" y="3776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Handling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37947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Multiple-copy booking validation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4818888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462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00200" y="4434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Demo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00600" y="445312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workflow and result checking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5477256"/>
            <a:ext cx="9601200" cy="0"/>
          </a:xfrm>
          <a:prstGeom prst="line">
            <a:avLst/>
          </a:prstGeom>
          <a:noFill/>
          <a:ln w="8890">
            <a:solidFill>
              <a:srgbClr val="DCEA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1206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00200" y="5093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00600" y="51114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outcome and live code review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CONTEXT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" y="135331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 is a console-based Java application developed to automate essential library operations.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manages book records, user accounts, borrowing periods and transaction history. It focuses on accurate resource tracking, especially when a book has multiple physical copies.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868680" y="33101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uses text-file storage so that records remain available after the program is closed and opened again.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995160" y="1234440"/>
            <a:ext cx="3749040" cy="914400"/>
          </a:xfrm>
          <a:prstGeom prst="roundRect">
            <a:avLst>
              <a:gd name="adj" fmla="val 7000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37160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59752" y="167335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Included: console app, authentication, book management, borrow/return, file storage.</a:t>
            </a:r>
            <a:endParaRPr lang="en-US" sz="96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included: GUI, database, online services or cloud storage.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995160" y="2606040"/>
            <a:ext cx="3749040" cy="914400"/>
          </a:xfrm>
          <a:prstGeom prst="roundRect">
            <a:avLst>
              <a:gd name="adj" fmla="val 7000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274320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of the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59752" y="304495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 manage library resources.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users search, borrow, reserve and return books.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995160" y="3977640"/>
            <a:ext cx="3749040" cy="914400"/>
          </a:xfrm>
          <a:prstGeom prst="roundRect">
            <a:avLst>
              <a:gd name="adj" fmla="val 7000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411480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Value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59752" y="4416552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availability mistakes and prevents invalid borrowing conflicts.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library management can create difficulty in tracking book availability, inaccurate borrowing records and conflicts when multiple users request the same book.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5166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 common library operations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Admin and User permissions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every physical copy of each book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 overlapping reservations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Suggest the earliest available date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records using text 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143000"/>
            <a:ext cx="3977640" cy="3977640"/>
          </a:xfrm>
          <a:prstGeom prst="roundRect">
            <a:avLst>
              <a:gd name="adj" fmla="val 1609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128016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Summary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85432" y="1581912"/>
            <a:ext cx="3648456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validation-based Java application checks user role, book copy count, selected date period and active transactions before approving any borrow or return operation.</a:t>
            </a:r>
            <a:endParaRPr lang="en-US" sz="1220" dirty="0"/>
          </a:p>
          <a:p>
            <a:pPr marL="0" indent="0" algn="l">
              <a:buNone/>
            </a:pP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approach makes the system more reliable than a simple book list application.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 Data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1115568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261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16824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23160" y="1115568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261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14600" y="16824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023360" y="1115568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261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114800" y="16824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Titles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23560" y="1115568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2618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715000" y="16824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Copies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CHART</a:t>
            </a:r>
            <a:endParaRPr lang="en-US" sz="7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822960" y="2880360"/>
          <a:ext cx="6217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7452360" y="1188720"/>
            <a:ext cx="3200400" cy="914400"/>
          </a:xfrm>
          <a:prstGeom prst="roundRect">
            <a:avLst>
              <a:gd name="adj" fmla="val 7000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16952" y="132588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Accounts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16952" y="1627632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rakib / rakib123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tanvir / tanvir123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7452360" y="2514600"/>
            <a:ext cx="3200400" cy="1188720"/>
          </a:xfrm>
          <a:prstGeom prst="roundRect">
            <a:avLst>
              <a:gd name="adj" fmla="val 5385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16952" y="26517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16952" y="2953512"/>
            <a:ext cx="2871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devid / devid123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 / jack123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angela / angela123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/ adam123</a:t>
            </a:r>
            <a:endParaRPr lang="en-US" sz="970" dirty="0"/>
          </a:p>
        </p:txBody>
      </p:sp>
      <p:sp>
        <p:nvSpPr>
          <p:cNvPr id="31" name="Shape 28"/>
          <p:cNvSpPr/>
          <p:nvPr/>
        </p:nvSpPr>
        <p:spPr>
          <a:xfrm>
            <a:off x="7452360" y="411480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16952" y="42519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Copy Count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616952" y="4553712"/>
            <a:ext cx="2871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Harry Potter Part 3 has 4 copies and is used for the collision demo.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Functionalities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FUNCTIONS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4652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FUNCTIONS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77240" y="1417320"/>
            <a:ext cx="4937760" cy="3840480"/>
          </a:xfrm>
          <a:prstGeom prst="roundRect">
            <a:avLst>
              <a:gd name="adj" fmla="val 1667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1554480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can: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1832" y="1856232"/>
            <a:ext cx="46085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securely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and search all books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Add, update and delete books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all accounts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Add, update and delete accounts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full transaction history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active reservations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 a book for a user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availability for selected dates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417320"/>
            <a:ext cx="4343400" cy="3840480"/>
          </a:xfrm>
          <a:prstGeom prst="roundRect">
            <a:avLst>
              <a:gd name="adj" fmla="val 1667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155448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can: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11112" y="1856232"/>
            <a:ext cx="401421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securely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and search books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Borrow or reserve a copy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Return own borrowed book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personal active reservations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personal transaction history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availability for selected dates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 &amp; OOP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CONCEPTS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22960" y="1435608"/>
            <a:ext cx="301752" cy="301752"/>
          </a:xfrm>
          <a:prstGeom prst="ellipse">
            <a:avLst/>
          </a:prstGeom>
          <a:solidFill>
            <a:srgbClr val="EFF8FA"/>
          </a:solidFill>
          <a:ln w="12700">
            <a:solidFill>
              <a:srgbClr val="DCE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50876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71600" y="13898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3898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057400"/>
            <a:ext cx="301752" cy="301752"/>
          </a:xfrm>
          <a:prstGeom prst="ellipse">
            <a:avLst/>
          </a:prstGeom>
          <a:solidFill>
            <a:srgbClr val="EFF8FA"/>
          </a:solidFill>
          <a:ln w="12700">
            <a:solidFill>
              <a:srgbClr val="DCEA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130552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0" y="20116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0116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objects, encapsulation and inheritance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2679192"/>
            <a:ext cx="301752" cy="301752"/>
          </a:xfrm>
          <a:prstGeom prst="ellipse">
            <a:avLst/>
          </a:prstGeom>
          <a:solidFill>
            <a:srgbClr val="EFF8FA"/>
          </a:solidFill>
          <a:ln w="12700">
            <a:solidFill>
              <a:srgbClr val="DCEA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75234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26334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 Collections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6334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storage for books, users and transactions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300984"/>
            <a:ext cx="301752" cy="301752"/>
          </a:xfrm>
          <a:prstGeom prst="ellipse">
            <a:avLst/>
          </a:prstGeom>
          <a:solidFill>
            <a:srgbClr val="EFF8FA"/>
          </a:solidFill>
          <a:ln w="12700">
            <a:solidFill>
              <a:srgbClr val="DCEA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374136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71600" y="325526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Input/Output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255264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storage using .txt files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922776"/>
            <a:ext cx="301752" cy="301752"/>
          </a:xfrm>
          <a:prstGeom prst="ellipse">
            <a:avLst/>
          </a:prstGeom>
          <a:solidFill>
            <a:srgbClr val="EFF8FA"/>
          </a:solidFill>
          <a:ln w="12700">
            <a:solidFill>
              <a:srgbClr val="DCEA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995928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371600" y="38770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87705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 and safe error handling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1078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STRUCTURE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583680" y="1417320"/>
            <a:ext cx="3886200" cy="3520440"/>
          </a:xfrm>
          <a:prstGeom prst="roundRect">
            <a:avLst>
              <a:gd name="adj" fmla="val 1299"/>
            </a:avLst>
          </a:prstGeom>
          <a:solidFill>
            <a:srgbClr val="101820"/>
          </a:solidFill>
          <a:ln w="12700">
            <a:solidFill>
              <a:srgbClr val="2D37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1417320"/>
            <a:ext cx="3886200" cy="292608"/>
          </a:xfrm>
          <a:prstGeom prst="rect">
            <a:avLst/>
          </a:prstGeom>
          <a:solidFill>
            <a:srgbClr val="26313D"/>
          </a:solidFill>
          <a:ln w="12700">
            <a:solidFill>
              <a:srgbClr val="2631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1490472"/>
            <a:ext cx="3593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Class Diagram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48272" y="1828800"/>
            <a:ext cx="35570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&lt;|--  Admin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 ----User  ----- &gt;  LibraryManager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/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LibraryManager --&gt; FileManager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LibraryManager --&gt; DateUtils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--&gt; LibraryManager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0" y="52303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separates user data, book data, transaction logic, file handling and date validation into different classes.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52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Workflow &amp; Console 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application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Load data from text files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Admin/User login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Display role-based menu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Select operation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Validate input and permissions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Check copy and date availability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Save updated records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669280" y="1078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CONSOLE OUTPUT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669280" y="1417320"/>
            <a:ext cx="5166360" cy="4251960"/>
          </a:xfrm>
          <a:prstGeom prst="roundRect">
            <a:avLst>
              <a:gd name="adj" fmla="val 1075"/>
            </a:avLst>
          </a:prstGeom>
          <a:solidFill>
            <a:srgbClr val="101820"/>
          </a:solidFill>
          <a:ln w="12700">
            <a:solidFill>
              <a:srgbClr val="2D37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417320"/>
            <a:ext cx="5166360" cy="292608"/>
          </a:xfrm>
          <a:prstGeom prst="rect">
            <a:avLst/>
          </a:prstGeom>
          <a:solidFill>
            <a:srgbClr val="26313D"/>
          </a:solidFill>
          <a:ln w="12700">
            <a:solidFill>
              <a:srgbClr val="263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5584" y="1490472"/>
            <a:ext cx="4873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 + Book List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33872" y="1828800"/>
            <a:ext cx="483717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 MANAGEMENT SYSTEM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============================================================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Admin Login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User Login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Exit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an option: 2</a:t>
            </a:r>
            <a:endParaRPr lang="en-US" sz="680" dirty="0"/>
          </a:p>
          <a:p>
            <a:pPr marL="0" indent="0" algn="l">
              <a:buNone/>
            </a:pP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LOGIN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devid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********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Welcome, Devid.</a:t>
            </a:r>
            <a:endParaRPr lang="en-US" sz="680" dirty="0"/>
          </a:p>
          <a:p>
            <a:pPr marL="0" indent="0" algn="l">
              <a:buNone/>
            </a:pP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| Title                  | Total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B001   | Harry Potter Part 1    | 3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B002   | Harry Potter Part 2    | 3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B003   | Harry Potter Part 3    | 4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B004   | The Hobbit             | 2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B005   | The Alchemist          | 2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B006   | Clean Code             | 1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Availability &amp; Collision Handling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MULTIPLE-COPY LOGIC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22960" y="138988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treats every book copy as a separate physical resource. A borrow request is approved only when at least one copy is free for the requested date range.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331720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4688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Harry Potter Part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" y="2770632"/>
            <a:ext cx="4745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copies: 4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1: Reserved | Copy 2: Reserved | Copy 3: Reserved | Copy 4: Available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another user can still borrow the available copy.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11480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Copies Are Reserved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4416552"/>
            <a:ext cx="4745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rejects the invalid booking, checks active reservations and suggests the earliest return date for the same borrowing duration.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446520" y="10789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RESULT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4206240" cy="3886200"/>
          </a:xfrm>
          <a:prstGeom prst="roundRect">
            <a:avLst>
              <a:gd name="adj" fmla="val 1176"/>
            </a:avLst>
          </a:prstGeom>
          <a:solidFill>
            <a:srgbClr val="101820"/>
          </a:solidFill>
          <a:ln w="12700">
            <a:solidFill>
              <a:srgbClr val="2D37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417320"/>
            <a:ext cx="4206240" cy="292608"/>
          </a:xfrm>
          <a:prstGeom prst="rect">
            <a:avLst/>
          </a:prstGeom>
          <a:solidFill>
            <a:srgbClr val="26313D"/>
          </a:solidFill>
          <a:ln w="12700">
            <a:solidFill>
              <a:srgbClr val="263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1490472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Demo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611112" y="1828800"/>
            <a:ext cx="38770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AVAILABILITY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ID: B003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date: 2026-08-01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date:   2026-08-10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4 copies are unavailable.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earliest suggested start date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same duration is 2026-08-10.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 is not allowed until a copy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collision-free.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931920"/>
            <a:ext cx="3200400" cy="3200400"/>
          </a:xfrm>
          <a:prstGeom prst="arc">
            <a:avLst/>
          </a:prstGeom>
          <a:solidFill>
            <a:srgbClr val="EFF8FA">
              <a:alpha val="15000"/>
            </a:srgbClr>
          </a:solidFill>
          <a:ln w="12700">
            <a:solidFill>
              <a:srgbClr val="EFF8F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371600"/>
            <a:ext cx="2926080" cy="2926080"/>
          </a:xfrm>
          <a:prstGeom prst="arc">
            <a:avLst/>
          </a:prstGeom>
          <a:solidFill>
            <a:srgbClr val="EFF8FA">
              <a:alpha val="14000"/>
            </a:srgbClr>
          </a:solidFill>
          <a:ln w="12700">
            <a:solidFill>
              <a:srgbClr val="EFF8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-777240"/>
            <a:ext cx="1005840" cy="1005840"/>
          </a:xfrm>
          <a:prstGeom prst="arc">
            <a:avLst/>
          </a:prstGeom>
          <a:solidFill>
            <a:srgbClr val="EFF8FA">
              <a:alpha val="18000"/>
            </a:srgbClr>
          </a:solidFill>
          <a:ln w="12700">
            <a:solidFill>
              <a:srgbClr val="EFF8F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01984" y="0"/>
            <a:ext cx="347472" cy="822960"/>
          </a:xfrm>
          <a:prstGeom prst="rect">
            <a:avLst/>
          </a:prstGeom>
          <a:solidFill>
            <a:srgbClr val="B70F15"/>
          </a:solidFill>
          <a:ln w="12700">
            <a:solidFill>
              <a:srgbClr val="B70F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31168" y="310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795528"/>
            <a:ext cx="9875520" cy="0"/>
          </a:xfrm>
          <a:prstGeom prst="line">
            <a:avLst/>
          </a:prstGeom>
          <a:noFill/>
          <a:ln w="12700">
            <a:solidFill>
              <a:srgbClr val="DCE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594360" y="320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Outcome &amp; Live Code Review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STORAGE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77240" y="1389888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15270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users.txt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1832" y="182880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admin and user account information.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069080" y="1389888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15270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books.txt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33672" y="182880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book IDs, titles, authors and copy counts.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360920" y="1389888"/>
            <a:ext cx="2926080" cy="1097280"/>
          </a:xfrm>
          <a:prstGeom prst="roundRect">
            <a:avLst>
              <a:gd name="adj" fmla="val 5833"/>
            </a:avLst>
          </a:prstGeom>
          <a:solidFill>
            <a:srgbClr val="F6FBFC"/>
          </a:solidFill>
          <a:ln w="9525">
            <a:solidFill>
              <a:srgbClr val="DCEA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25512" y="152704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transactions.txt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25512" y="182880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reservations, assigned copies and return status.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77240" y="2788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PERFORMED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68680" y="310896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Login authentication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Book search and inventory view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Add/update/delete operations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Multiple-copy borrowing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collision scenario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Earliest available date calculation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Return processing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persistence after restart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9320" y="2788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E5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OUTCOME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080760" y="310896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demonstrates Java programming, object-oriented design, file handling, date-range validation and practical problem solving.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live code review, I will show login, menus, class structure, borrow/return functions and collision handling logic.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8704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596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message: the system manages books, users and date-based borrowing while preventing invalid booking collisions.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052560" y="56875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1069</Words>
  <Application>Microsoft Office PowerPoint</Application>
  <PresentationFormat>Widescreen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M25W7575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Final Project Presentation</dc:title>
  <dc:subject>Library Management System Final Project</dc:subject>
  <dc:creator>Hossain Rakib</dc:creator>
  <cp:lastModifiedBy>Rakib Hossain</cp:lastModifiedBy>
  <cp:revision>1</cp:revision>
  <dcterms:created xsi:type="dcterms:W3CDTF">2026-07-18T02:11:13Z</dcterms:created>
  <dcterms:modified xsi:type="dcterms:W3CDTF">2026-07-18T04:09:00Z</dcterms:modified>
</cp:coreProperties>
</file>